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82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C4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ide_modern_vector_3d_illustration_style_scene_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715975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914400"/>
            <a:ext cx="429768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 dirty="0" err="1">
                <a:solidFill>
                  <a:srgbClr val="1E1B4B"/>
                </a:solidFill>
                <a:latin typeface="Aptos" panose="020B0004020202020204" pitchFamily="34" charset="0"/>
              </a:rPr>
              <a:t>Compréhension</a:t>
            </a:r>
            <a:r>
              <a:rPr sz="3500" b="1" dirty="0">
                <a:solidFill>
                  <a:srgbClr val="1E1B4B"/>
                </a:solidFill>
                <a:latin typeface="Aptos" panose="020B0004020202020204" pitchFamily="34" charset="0"/>
              </a:rPr>
              <a:t> et </a:t>
            </a:r>
            <a:r>
              <a:rPr sz="3500" b="1" dirty="0" err="1">
                <a:solidFill>
                  <a:srgbClr val="1E1B4B"/>
                </a:solidFill>
                <a:latin typeface="Aptos" panose="020B0004020202020204" pitchFamily="34" charset="0"/>
              </a:rPr>
              <a:t>valorisation</a:t>
            </a:r>
            <a:r>
              <a:rPr sz="3500" b="1" dirty="0">
                <a:solidFill>
                  <a:srgbClr val="1E1B4B"/>
                </a:solidFill>
                <a:latin typeface="Aptos" panose="020B0004020202020204" pitchFamily="34" charset="0"/>
              </a:rPr>
              <a:t>
des clients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680" y="4107276"/>
            <a:ext cx="17098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FR" sz="1600" dirty="0">
                <a:solidFill>
                  <a:srgbClr val="5B6178"/>
                </a:solidFill>
              </a:rPr>
              <a:t>Aymen Benbouhia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5120640"/>
            <a:ext cx="1097280" cy="1097280"/>
          </a:xfrm>
          <a:prstGeom prst="ellipse">
            <a:avLst/>
          </a:prstGeom>
          <a:solidFill>
            <a:srgbClr val="6C4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200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clients</a:t>
            </a:r>
          </a:p>
        </p:txBody>
      </p:sp>
      <p:sp>
        <p:nvSpPr>
          <p:cNvPr id="7" name="Oval 6"/>
          <p:cNvSpPr/>
          <p:nvPr/>
        </p:nvSpPr>
        <p:spPr>
          <a:xfrm>
            <a:off x="2039112" y="5120640"/>
            <a:ext cx="1097280" cy="1097280"/>
          </a:xfrm>
          <a:prstGeom prst="ellipse">
            <a:avLst/>
          </a:prstGeom>
          <a:solidFill>
            <a:srgbClr val="16C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segments</a:t>
            </a:r>
          </a:p>
        </p:txBody>
      </p:sp>
      <p:sp>
        <p:nvSpPr>
          <p:cNvPr id="8" name="Oval 7"/>
          <p:cNvSpPr/>
          <p:nvPr/>
        </p:nvSpPr>
        <p:spPr>
          <a:xfrm>
            <a:off x="3392424" y="512064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k=5</a:t>
            </a:r>
          </a:p>
          <a:p>
            <a:pPr algn="ctr"/>
            <a:r>
              <a:rPr sz="1000">
                <a:solidFill>
                  <a:srgbClr val="FFFFFF"/>
                </a:solidFill>
              </a:rPr>
              <a:t>choisi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Objectif métier et structure du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>
                <a:solidFill>
                  <a:srgbClr val="5B6178"/>
                </a:solidFill>
              </a:rPr>
              <a:t>Identifier des </a:t>
            </a:r>
            <a:r>
              <a:rPr sz="1100" dirty="0" err="1">
                <a:solidFill>
                  <a:srgbClr val="5B6178"/>
                </a:solidFill>
              </a:rPr>
              <a:t>profils</a:t>
            </a:r>
            <a:r>
              <a:rPr sz="1100" dirty="0">
                <a:solidFill>
                  <a:srgbClr val="5B6178"/>
                </a:solidFill>
              </a:rPr>
              <a:t> clients </a:t>
            </a:r>
            <a:r>
              <a:rPr sz="1100" dirty="0" err="1">
                <a:solidFill>
                  <a:srgbClr val="5B6178"/>
                </a:solidFill>
              </a:rPr>
              <a:t>utiles</a:t>
            </a:r>
            <a:r>
              <a:rPr sz="1100" dirty="0">
                <a:solidFill>
                  <a:srgbClr val="5B6178"/>
                </a:solidFill>
              </a:rPr>
              <a:t> pour </a:t>
            </a:r>
            <a:r>
              <a:rPr sz="1100" dirty="0" err="1">
                <a:solidFill>
                  <a:srgbClr val="5B6178"/>
                </a:solidFill>
              </a:rPr>
              <a:t>personnaliser</a:t>
            </a:r>
            <a:r>
              <a:rPr sz="1100" dirty="0">
                <a:solidFill>
                  <a:srgbClr val="5B6178"/>
                </a:solidFill>
              </a:rPr>
              <a:t> les </a:t>
            </a:r>
            <a:r>
              <a:rPr sz="1100" dirty="0" err="1">
                <a:solidFill>
                  <a:srgbClr val="5B6178"/>
                </a:solidFill>
              </a:rPr>
              <a:t>offres</a:t>
            </a:r>
            <a:r>
              <a:rPr sz="1100" dirty="0">
                <a:solidFill>
                  <a:srgbClr val="5B6178"/>
                </a:solidFill>
              </a:rPr>
              <a:t> et </a:t>
            </a:r>
            <a:r>
              <a:rPr sz="1100" dirty="0" err="1">
                <a:solidFill>
                  <a:srgbClr val="5B6178"/>
                </a:solidFill>
              </a:rPr>
              <a:t>améliorer</a:t>
            </a:r>
            <a:r>
              <a:rPr sz="1100" dirty="0">
                <a:solidFill>
                  <a:srgbClr val="5B6178"/>
                </a:solidFill>
              </a:rPr>
              <a:t> la performance </a:t>
            </a:r>
            <a:r>
              <a:rPr sz="1100" dirty="0" err="1">
                <a:solidFill>
                  <a:srgbClr val="5B6178"/>
                </a:solidFill>
              </a:rPr>
              <a:t>commerciale</a:t>
            </a:r>
            <a:r>
              <a:rPr sz="1100" dirty="0">
                <a:solidFill>
                  <a:srgbClr val="5B6178"/>
                </a:solidFill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747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Problématique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Mieux comprendre les comportements d'achat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Regrouper les clients selon leurs similitudes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Transformer ces segments en actions marketing ciblées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749039"/>
            <a:ext cx="3474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Variables du dataset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Genre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Âge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Revenu annuel (k$)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Spending Score (1–100)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1732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>
                <a:solidFill>
                  <a:srgbClr val="5B6178"/>
                </a:solidFill>
              </a:rPr>
              <a:t>Volume</a:t>
            </a:r>
          </a:p>
          <a:p>
            <a:r>
              <a:rPr lang="fr-FR" sz="2000" b="1" dirty="0">
                <a:solidFill>
                  <a:srgbClr val="6C4CF1"/>
                </a:solidFill>
              </a:rPr>
              <a:t>	    </a:t>
            </a:r>
            <a:r>
              <a:rPr sz="2000" b="1" dirty="0">
                <a:solidFill>
                  <a:srgbClr val="6C4CF1"/>
                </a:solidFill>
              </a:rPr>
              <a:t>200</a:t>
            </a:r>
          </a:p>
          <a:p>
            <a:r>
              <a:rPr lang="fr-FR" sz="900" dirty="0">
                <a:solidFill>
                  <a:srgbClr val="5B6178"/>
                </a:solidFill>
              </a:rPr>
              <a:t>                   </a:t>
            </a:r>
            <a:r>
              <a:rPr sz="900" dirty="0">
                <a:solidFill>
                  <a:srgbClr val="5B6178"/>
                </a:solidFill>
              </a:rPr>
              <a:t>clients </a:t>
            </a:r>
            <a:r>
              <a:rPr sz="900" dirty="0" err="1">
                <a:solidFill>
                  <a:srgbClr val="5B6178"/>
                </a:solidFill>
              </a:rPr>
              <a:t>observés</a:t>
            </a:r>
            <a:endParaRPr sz="900" dirty="0">
              <a:solidFill>
                <a:srgbClr val="5B6178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26280" y="283464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>
                <a:solidFill>
                  <a:srgbClr val="5B6178"/>
                </a:solidFill>
              </a:rPr>
              <a:t>Variables </a:t>
            </a:r>
            <a:r>
              <a:rPr sz="1100" dirty="0" err="1">
                <a:solidFill>
                  <a:srgbClr val="5B6178"/>
                </a:solidFill>
              </a:rPr>
              <a:t>clés</a:t>
            </a:r>
            <a:endParaRPr sz="1100" dirty="0">
              <a:solidFill>
                <a:srgbClr val="5B6178"/>
              </a:solidFill>
            </a:endParaRPr>
          </a:p>
          <a:p>
            <a:pPr lvl="1"/>
            <a:r>
              <a:rPr lang="fr-FR" sz="2000" b="1" dirty="0">
                <a:solidFill>
                  <a:srgbClr val="16C7C8"/>
                </a:solidFill>
              </a:rPr>
              <a:t>      4</a:t>
            </a:r>
          </a:p>
          <a:p>
            <a:pPr lvl="1"/>
            <a:r>
              <a:rPr lang="fr-FR" sz="900" dirty="0">
                <a:solidFill>
                  <a:srgbClr val="5B6178"/>
                </a:solidFill>
              </a:rPr>
              <a:t>    </a:t>
            </a:r>
            <a:r>
              <a:rPr lang="fr-FR" sz="900" dirty="0" err="1">
                <a:solidFill>
                  <a:srgbClr val="5B6178"/>
                </a:solidFill>
              </a:rPr>
              <a:t>features</a:t>
            </a:r>
            <a:r>
              <a:rPr lang="fr-FR" sz="900" dirty="0">
                <a:solidFill>
                  <a:srgbClr val="5B6178"/>
                </a:solidFill>
              </a:rPr>
              <a:t> utiles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4251960"/>
            <a:ext cx="2011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dirty="0" err="1">
                <a:solidFill>
                  <a:srgbClr val="5B6178"/>
                </a:solidFill>
              </a:rPr>
              <a:t>Approche</a:t>
            </a:r>
            <a:endParaRPr sz="1100" dirty="0">
              <a:solidFill>
                <a:srgbClr val="5B6178"/>
              </a:solidFill>
            </a:endParaRPr>
          </a:p>
          <a:p>
            <a:r>
              <a:rPr lang="fr-FR" sz="2000" b="1" dirty="0">
                <a:solidFill>
                  <a:srgbClr val="FF6B6B"/>
                </a:solidFill>
              </a:rPr>
              <a:t>       </a:t>
            </a:r>
            <a:r>
              <a:rPr sz="2000" b="1" dirty="0">
                <a:solidFill>
                  <a:srgbClr val="FF6B6B"/>
                </a:solidFill>
              </a:rPr>
              <a:t>K-Means</a:t>
            </a:r>
          </a:p>
          <a:p>
            <a:r>
              <a:rPr lang="fr-FR" sz="900" dirty="0">
                <a:solidFill>
                  <a:srgbClr val="5B6178"/>
                </a:solidFill>
              </a:rPr>
              <a:t>         </a:t>
            </a:r>
            <a:r>
              <a:rPr sz="900" dirty="0">
                <a:solidFill>
                  <a:srgbClr val="5B6178"/>
                </a:solidFill>
              </a:rPr>
              <a:t>segmentation non </a:t>
            </a:r>
            <a:r>
              <a:rPr sz="900" dirty="0" err="1">
                <a:solidFill>
                  <a:srgbClr val="5B6178"/>
                </a:solidFill>
              </a:rPr>
              <a:t>supervisée</a:t>
            </a:r>
            <a:endParaRPr sz="900" dirty="0">
              <a:solidFill>
                <a:srgbClr val="5B6178"/>
              </a:solidFill>
            </a:endParaRPr>
          </a:p>
        </p:txBody>
      </p:sp>
      <p:pic>
        <p:nvPicPr>
          <p:cNvPr id="9" name="Picture 8" descr="gender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34440"/>
            <a:ext cx="4709160" cy="2468880"/>
          </a:xfrm>
          <a:prstGeom prst="rect">
            <a:avLst/>
          </a:prstGeom>
        </p:spPr>
      </p:pic>
      <p:pic>
        <p:nvPicPr>
          <p:cNvPr id="10" name="Picture 9" descr="age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794760"/>
            <a:ext cx="470916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178"/>
                </a:solidFill>
              </a:rPr>
              <a:t>Sujet 2 — Segmentation clients e-commerce | Dataset Mall_Customers.csv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Exploration visuelle des comportements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178"/>
                </a:solidFill>
              </a:rPr>
              <a:t>Avant la segmentation, l'exploration montre déjà des différences de profil liées au revenu, à l'âge et à l'intensité d'achat.</a:t>
            </a:r>
          </a:p>
        </p:txBody>
      </p:sp>
      <p:pic>
        <p:nvPicPr>
          <p:cNvPr id="4" name="Picture 3" descr="scatter_g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58368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417320"/>
            <a:ext cx="37947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>
                <a:solidFill>
                  <a:srgbClr val="1E1B4B"/>
                </a:solidFill>
              </a:rPr>
              <a:t>Lectures </a:t>
            </a:r>
            <a:r>
              <a:rPr sz="1600" b="1" dirty="0" err="1">
                <a:solidFill>
                  <a:srgbClr val="1E1B4B"/>
                </a:solidFill>
              </a:rPr>
              <a:t>principales</a:t>
            </a:r>
            <a:endParaRPr lang="fr-FR" sz="1600" b="1" dirty="0">
              <a:solidFill>
                <a:srgbClr val="1E1B4B"/>
              </a:solidFill>
            </a:endParaRPr>
          </a:p>
          <a:p>
            <a:pPr algn="ctr"/>
            <a:endParaRPr sz="1600" b="1" dirty="0">
              <a:solidFill>
                <a:srgbClr val="1E1B4B"/>
              </a:solidFill>
            </a:endParaRPr>
          </a:p>
          <a:p>
            <a:pPr>
              <a:defRPr sz="1200">
                <a:solidFill>
                  <a:srgbClr val="5B6178"/>
                </a:solidFill>
              </a:defRPr>
            </a:pPr>
            <a:r>
              <a:rPr dirty="0"/>
              <a:t>Le Spending Score </a:t>
            </a:r>
            <a:r>
              <a:rPr dirty="0" err="1"/>
              <a:t>varie</a:t>
            </a:r>
            <a:r>
              <a:rPr dirty="0"/>
              <a:t> </a:t>
            </a:r>
            <a:r>
              <a:rPr dirty="0" err="1"/>
              <a:t>fortement</a:t>
            </a:r>
            <a:r>
              <a:rPr dirty="0"/>
              <a:t> à </a:t>
            </a:r>
            <a:r>
              <a:rPr dirty="0" err="1"/>
              <a:t>revenu</a:t>
            </a:r>
            <a:r>
              <a:rPr dirty="0"/>
              <a:t> </a:t>
            </a:r>
            <a:r>
              <a:rPr dirty="0" err="1"/>
              <a:t>similaire</a:t>
            </a:r>
            <a:r>
              <a:rPr dirty="0"/>
              <a:t> : il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donc</a:t>
            </a:r>
            <a:r>
              <a:rPr dirty="0"/>
              <a:t> </a:t>
            </a:r>
            <a:r>
              <a:rPr dirty="0" err="1"/>
              <a:t>plusieurs</a:t>
            </a:r>
            <a:r>
              <a:rPr dirty="0"/>
              <a:t> styles </a:t>
            </a:r>
            <a:r>
              <a:rPr dirty="0" err="1"/>
              <a:t>d'achat</a:t>
            </a:r>
            <a:r>
              <a:rPr dirty="0"/>
              <a:t>.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rPr dirty="0"/>
              <a:t>Les </a:t>
            </a:r>
            <a:r>
              <a:rPr dirty="0" err="1"/>
              <a:t>revenus</a:t>
            </a:r>
            <a:r>
              <a:rPr dirty="0"/>
              <a:t> </a:t>
            </a:r>
            <a:r>
              <a:rPr dirty="0" err="1"/>
              <a:t>élevés</a:t>
            </a:r>
            <a:r>
              <a:rPr dirty="0"/>
              <a:t> se </a:t>
            </a:r>
            <a:r>
              <a:rPr dirty="0" err="1"/>
              <a:t>divisent</a:t>
            </a:r>
            <a:r>
              <a:rPr dirty="0"/>
              <a:t> déjà </a:t>
            </a:r>
            <a:r>
              <a:rPr dirty="0" err="1"/>
              <a:t>en</a:t>
            </a:r>
            <a:r>
              <a:rPr dirty="0"/>
              <a:t> deux </a:t>
            </a:r>
            <a:r>
              <a:rPr dirty="0" err="1"/>
              <a:t>groupes</a:t>
            </a:r>
            <a:r>
              <a:rPr dirty="0"/>
              <a:t> </a:t>
            </a:r>
            <a:r>
              <a:rPr dirty="0" err="1"/>
              <a:t>visibles</a:t>
            </a:r>
            <a:r>
              <a:rPr dirty="0"/>
              <a:t> : gros </a:t>
            </a:r>
            <a:r>
              <a:rPr dirty="0" err="1"/>
              <a:t>dépensiers</a:t>
            </a:r>
            <a:r>
              <a:rPr dirty="0"/>
              <a:t> vs </a:t>
            </a:r>
            <a:r>
              <a:rPr dirty="0" err="1"/>
              <a:t>dépense</a:t>
            </a:r>
            <a:r>
              <a:rPr dirty="0"/>
              <a:t> </a:t>
            </a:r>
            <a:r>
              <a:rPr dirty="0" err="1"/>
              <a:t>prudente</a:t>
            </a:r>
            <a:r>
              <a:rPr dirty="0"/>
              <a:t>.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rPr dirty="0" err="1"/>
              <a:t>L'âge</a:t>
            </a:r>
            <a:r>
              <a:rPr dirty="0"/>
              <a:t> aide à </a:t>
            </a:r>
            <a:r>
              <a:rPr dirty="0" err="1"/>
              <a:t>distinguer</a:t>
            </a:r>
            <a:r>
              <a:rPr dirty="0"/>
              <a:t> des segments plus jeunes et plus matures.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178"/>
                </a:solidFill>
              </a:rPr>
              <a:t>Sujet 2 — Segmentation clients e-commerce | Dataset Mall_Customers.csv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Choix du nombre optimal de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178"/>
                </a:solidFill>
              </a:rPr>
              <a:t>Le coude de l'inertie et la qualité de séparation conduisent à retenir une segmentation en 5 groupes.</a:t>
            </a:r>
          </a:p>
        </p:txBody>
      </p:sp>
      <p:pic>
        <p:nvPicPr>
          <p:cNvPr id="4" name="Picture 3" descr="elbow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85800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417320"/>
            <a:ext cx="361188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E1B4B"/>
                </a:solidFill>
              </a:rPr>
              <a:t>Décision analytique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Le gain d'inertie ralentit à partir de k≈5.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La silhouette reste compétitive autour de 5 à 6 clusters.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t>k=5 offre un bon compromis entre lisibilité métier et qualité statistique.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5440680"/>
            <a:ext cx="3611880" cy="777240"/>
          </a:xfrm>
          <a:prstGeom prst="roundRect">
            <a:avLst/>
          </a:prstGeom>
          <a:solidFill>
            <a:srgbClr val="6C4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Segmentation retenue : 5 clusters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178"/>
                </a:solidFill>
              </a:rPr>
              <a:t>Sujet 2 — Segmentation clients e-commerce | Dataset Mall_Customers.csv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Résultat de la segmentation K-Means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178"/>
                </a:solidFill>
              </a:rPr>
              <a:t>Les clients se répartissent en 5 segments distincts sur le plan revenu annuel / spending score.</a:t>
            </a:r>
          </a:p>
        </p:txBody>
      </p:sp>
      <p:pic>
        <p:nvPicPr>
          <p:cNvPr id="4" name="Picture 3" descr="cluster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6858000" cy="4983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25880"/>
            <a:ext cx="38404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dirty="0" err="1">
                <a:solidFill>
                  <a:srgbClr val="1E1B4B"/>
                </a:solidFill>
              </a:rPr>
              <a:t>Interprétation</a:t>
            </a:r>
            <a:r>
              <a:rPr sz="1600" b="1" dirty="0">
                <a:solidFill>
                  <a:srgbClr val="1E1B4B"/>
                </a:solidFill>
              </a:rPr>
              <a:t> </a:t>
            </a:r>
            <a:r>
              <a:rPr sz="1600" b="1" dirty="0" err="1">
                <a:solidFill>
                  <a:srgbClr val="1E1B4B"/>
                </a:solidFill>
              </a:rPr>
              <a:t>rapide</a:t>
            </a:r>
            <a:r>
              <a:rPr sz="1600" b="1" dirty="0">
                <a:solidFill>
                  <a:srgbClr val="1E1B4B"/>
                </a:solidFill>
              </a:rPr>
              <a:t> des segments</a:t>
            </a:r>
            <a:endParaRPr lang="fr-FR" sz="1600" b="1" dirty="0">
              <a:solidFill>
                <a:srgbClr val="1E1B4B"/>
              </a:solidFill>
            </a:endParaRPr>
          </a:p>
          <a:p>
            <a:pPr algn="ctr"/>
            <a:endParaRPr sz="1600" b="1" dirty="0">
              <a:solidFill>
                <a:srgbClr val="1E1B4B"/>
              </a:solidFill>
            </a:endParaRPr>
          </a:p>
          <a:p>
            <a:pPr>
              <a:defRPr sz="1200">
                <a:solidFill>
                  <a:srgbClr val="5B6178"/>
                </a:solidFill>
              </a:defRPr>
            </a:pPr>
            <a:r>
              <a:rPr dirty="0"/>
              <a:t>C2 : clients à </a:t>
            </a:r>
            <a:r>
              <a:rPr dirty="0" err="1"/>
              <a:t>revenu</a:t>
            </a:r>
            <a:r>
              <a:rPr dirty="0"/>
              <a:t> </a:t>
            </a:r>
            <a:r>
              <a:rPr dirty="0" err="1"/>
              <a:t>élevé</a:t>
            </a:r>
            <a:r>
              <a:rPr dirty="0"/>
              <a:t> et forte </a:t>
            </a:r>
            <a:r>
              <a:rPr dirty="0" err="1"/>
              <a:t>dépense</a:t>
            </a:r>
            <a:r>
              <a:rPr dirty="0"/>
              <a:t> → </a:t>
            </a:r>
            <a:r>
              <a:rPr dirty="0" err="1"/>
              <a:t>cœur</a:t>
            </a:r>
            <a:r>
              <a:rPr dirty="0"/>
              <a:t> premium</a:t>
            </a:r>
          </a:p>
          <a:p>
            <a:pPr>
              <a:defRPr sz="1200">
                <a:solidFill>
                  <a:srgbClr val="5B6178"/>
                </a:solidFill>
              </a:defRPr>
            </a:pPr>
            <a:r>
              <a:rPr dirty="0"/>
              <a:t>C3 : </a:t>
            </a:r>
            <a:r>
              <a:rPr dirty="0" err="1"/>
              <a:t>revenu</a:t>
            </a:r>
            <a:r>
              <a:rPr dirty="0"/>
              <a:t> </a:t>
            </a:r>
            <a:r>
              <a:rPr dirty="0" err="1"/>
              <a:t>élevé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faible</a:t>
            </a:r>
            <a:r>
              <a:rPr dirty="0"/>
              <a:t> </a:t>
            </a:r>
            <a:r>
              <a:rPr dirty="0" err="1"/>
              <a:t>dépense</a:t>
            </a:r>
            <a:r>
              <a:rPr dirty="0"/>
              <a:t> → </a:t>
            </a:r>
            <a:r>
              <a:rPr dirty="0" err="1"/>
              <a:t>potentiel</a:t>
            </a:r>
            <a:r>
              <a:rPr dirty="0"/>
              <a:t> à </a:t>
            </a:r>
            <a:r>
              <a:rPr dirty="0" err="1"/>
              <a:t>activer</a:t>
            </a:r>
            <a:endParaRPr dirty="0"/>
          </a:p>
          <a:p>
            <a:pPr>
              <a:defRPr sz="1200">
                <a:solidFill>
                  <a:srgbClr val="5B6178"/>
                </a:solidFill>
              </a:defRPr>
            </a:pPr>
            <a:r>
              <a:rPr dirty="0"/>
              <a:t>C1 : jeunes clients au score </a:t>
            </a:r>
            <a:r>
              <a:rPr dirty="0" err="1"/>
              <a:t>d'achat</a:t>
            </a:r>
            <a:r>
              <a:rPr dirty="0"/>
              <a:t> </a:t>
            </a:r>
            <a:r>
              <a:rPr dirty="0" err="1"/>
              <a:t>dynamique</a:t>
            </a:r>
            <a:endParaRPr dirty="0"/>
          </a:p>
          <a:p>
            <a:pPr>
              <a:defRPr sz="1200">
                <a:solidFill>
                  <a:srgbClr val="5B6178"/>
                </a:solidFill>
              </a:defRPr>
            </a:pPr>
            <a:r>
              <a:rPr dirty="0"/>
              <a:t>C4 : clients plus </a:t>
            </a:r>
            <a:r>
              <a:rPr dirty="0" err="1"/>
              <a:t>âgés</a:t>
            </a:r>
            <a:r>
              <a:rPr dirty="0"/>
              <a:t>, </a:t>
            </a:r>
            <a:r>
              <a:rPr dirty="0" err="1"/>
              <a:t>dépense</a:t>
            </a:r>
            <a:r>
              <a:rPr dirty="0"/>
              <a:t> </a:t>
            </a:r>
            <a:r>
              <a:rPr dirty="0" err="1"/>
              <a:t>modérée</a:t>
            </a:r>
            <a:r>
              <a:rPr dirty="0"/>
              <a:t> et </a:t>
            </a:r>
            <a:r>
              <a:rPr dirty="0" err="1"/>
              <a:t>régulière</a:t>
            </a:r>
            <a:endParaRPr dirty="0"/>
          </a:p>
          <a:p>
            <a:pPr>
              <a:defRPr sz="1200">
                <a:solidFill>
                  <a:srgbClr val="5B6178"/>
                </a:solidFill>
              </a:defRPr>
            </a:pPr>
            <a:r>
              <a:rPr dirty="0"/>
              <a:t>C0 : </a:t>
            </a:r>
            <a:r>
              <a:rPr dirty="0" err="1"/>
              <a:t>revenu</a:t>
            </a:r>
            <a:r>
              <a:rPr dirty="0"/>
              <a:t> et </a:t>
            </a:r>
            <a:r>
              <a:rPr dirty="0" err="1"/>
              <a:t>dépense</a:t>
            </a:r>
            <a:r>
              <a:rPr dirty="0"/>
              <a:t> </a:t>
            </a:r>
            <a:r>
              <a:rPr dirty="0" err="1"/>
              <a:t>faibles</a:t>
            </a:r>
            <a:r>
              <a:rPr dirty="0"/>
              <a:t> → segment sensible au prix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178"/>
                </a:solidFill>
              </a:rPr>
              <a:t>Sujet 2 — Segmentation clients e-commerce | Dataset Mall_Customers.csv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 err="1">
                <a:solidFill>
                  <a:srgbClr val="1E1B4B"/>
                </a:solidFill>
              </a:rPr>
              <a:t>Profilage</a:t>
            </a:r>
            <a:r>
              <a:rPr sz="2600" b="1" dirty="0">
                <a:solidFill>
                  <a:srgbClr val="1E1B4B"/>
                </a:solidFill>
              </a:rPr>
              <a:t> des segments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178"/>
                </a:solidFill>
              </a:rPr>
              <a:t>La taille et les moyennes par cluster aident à prioriser les actions marketing.</a:t>
            </a:r>
          </a:p>
        </p:txBody>
      </p:sp>
      <p:pic>
        <p:nvPicPr>
          <p:cNvPr id="4" name="Picture 3" descr="profil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25880"/>
            <a:ext cx="5623560" cy="3429000"/>
          </a:xfrm>
          <a:prstGeom prst="rect">
            <a:avLst/>
          </a:prstGeom>
        </p:spPr>
      </p:pic>
      <p:pic>
        <p:nvPicPr>
          <p:cNvPr id="5" name="Picture 4" descr="cluster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09160"/>
            <a:ext cx="5212080" cy="1783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75120" y="1325880"/>
            <a:ext cx="484632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1E1B4B"/>
                </a:solidFill>
              </a:rPr>
              <a:t>Segments business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1E1B4B"/>
                </a:solidFill>
              </a:rPr>
              <a:t>C2 — Premium </a:t>
            </a:r>
            <a:r>
              <a:rPr sz="1250" b="1" dirty="0" err="1">
                <a:solidFill>
                  <a:srgbClr val="1E1B4B"/>
                </a:solidFill>
              </a:rPr>
              <a:t>engagés</a:t>
            </a:r>
            <a:endParaRPr sz="1250" b="1" dirty="0">
              <a:solidFill>
                <a:srgbClr val="1E1B4B"/>
              </a:solidFill>
            </a:endParaRPr>
          </a:p>
          <a:p>
            <a:r>
              <a:rPr sz="1050" dirty="0">
                <a:solidFill>
                  <a:srgbClr val="5B6178"/>
                </a:solidFill>
              </a:rPr>
              <a:t>32,9 </a:t>
            </a:r>
            <a:r>
              <a:rPr sz="1050" dirty="0" err="1">
                <a:solidFill>
                  <a:srgbClr val="5B6178"/>
                </a:solidFill>
              </a:rPr>
              <a:t>ans</a:t>
            </a:r>
            <a:r>
              <a:rPr sz="1050" dirty="0">
                <a:solidFill>
                  <a:srgbClr val="5B6178"/>
                </a:solidFill>
              </a:rPr>
              <a:t> | 86,1 k$ | score 81,5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1E1B4B"/>
                </a:solidFill>
              </a:rPr>
              <a:t>C3 — </a:t>
            </a:r>
            <a:r>
              <a:rPr sz="1250" b="1" dirty="0" err="1">
                <a:solidFill>
                  <a:srgbClr val="1E1B4B"/>
                </a:solidFill>
              </a:rPr>
              <a:t>Aisés</a:t>
            </a:r>
            <a:r>
              <a:rPr sz="1250" b="1" dirty="0">
                <a:solidFill>
                  <a:srgbClr val="1E1B4B"/>
                </a:solidFill>
              </a:rPr>
              <a:t> peu </a:t>
            </a:r>
            <a:r>
              <a:rPr sz="1250" b="1" dirty="0" err="1">
                <a:solidFill>
                  <a:srgbClr val="1E1B4B"/>
                </a:solidFill>
              </a:rPr>
              <a:t>actifs</a:t>
            </a:r>
            <a:endParaRPr sz="1250" b="1" dirty="0">
              <a:solidFill>
                <a:srgbClr val="1E1B4B"/>
              </a:solidFill>
            </a:endParaRPr>
          </a:p>
          <a:p>
            <a:r>
              <a:rPr sz="1050" dirty="0">
                <a:solidFill>
                  <a:srgbClr val="5B6178"/>
                </a:solidFill>
              </a:rPr>
              <a:t>39,9 </a:t>
            </a:r>
            <a:r>
              <a:rPr sz="1050" dirty="0" err="1">
                <a:solidFill>
                  <a:srgbClr val="5B6178"/>
                </a:solidFill>
              </a:rPr>
              <a:t>ans</a:t>
            </a:r>
            <a:r>
              <a:rPr sz="1050" dirty="0">
                <a:solidFill>
                  <a:srgbClr val="5B6178"/>
                </a:solidFill>
              </a:rPr>
              <a:t> | 86,1 k$ | score 19,4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1E1B4B"/>
                </a:solidFill>
              </a:rPr>
              <a:t>C1 — Jeunes </a:t>
            </a:r>
            <a:r>
              <a:rPr sz="1250" b="1" dirty="0" err="1">
                <a:solidFill>
                  <a:srgbClr val="1E1B4B"/>
                </a:solidFill>
              </a:rPr>
              <a:t>dynamiques</a:t>
            </a:r>
            <a:endParaRPr sz="1250" b="1" dirty="0">
              <a:solidFill>
                <a:srgbClr val="1E1B4B"/>
              </a:solidFill>
            </a:endParaRPr>
          </a:p>
          <a:p>
            <a:r>
              <a:rPr sz="1050" dirty="0">
                <a:solidFill>
                  <a:srgbClr val="5B6178"/>
                </a:solidFill>
              </a:rPr>
              <a:t>25,2 </a:t>
            </a:r>
            <a:r>
              <a:rPr sz="1050" dirty="0" err="1">
                <a:solidFill>
                  <a:srgbClr val="5B6178"/>
                </a:solidFill>
              </a:rPr>
              <a:t>ans</a:t>
            </a:r>
            <a:r>
              <a:rPr sz="1050" dirty="0">
                <a:solidFill>
                  <a:srgbClr val="5B6178"/>
                </a:solidFill>
              </a:rPr>
              <a:t> | 41,1 k$ | score 62,2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1E1B4B"/>
                </a:solidFill>
              </a:rPr>
              <a:t>C4 — Matures </a:t>
            </a:r>
            <a:r>
              <a:rPr sz="1250" b="1" dirty="0" err="1">
                <a:solidFill>
                  <a:srgbClr val="1E1B4B"/>
                </a:solidFill>
              </a:rPr>
              <a:t>équilibrés</a:t>
            </a:r>
            <a:endParaRPr sz="1250" b="1" dirty="0">
              <a:solidFill>
                <a:srgbClr val="1E1B4B"/>
              </a:solidFill>
            </a:endParaRPr>
          </a:p>
          <a:p>
            <a:r>
              <a:rPr sz="1050" dirty="0">
                <a:solidFill>
                  <a:srgbClr val="5B6178"/>
                </a:solidFill>
              </a:rPr>
              <a:t>55,6 </a:t>
            </a:r>
            <a:r>
              <a:rPr sz="1050" dirty="0" err="1">
                <a:solidFill>
                  <a:srgbClr val="5B6178"/>
                </a:solidFill>
              </a:rPr>
              <a:t>ans</a:t>
            </a:r>
            <a:r>
              <a:rPr sz="1050" dirty="0">
                <a:solidFill>
                  <a:srgbClr val="5B6178"/>
                </a:solidFill>
              </a:rPr>
              <a:t> | 54,4 k$ | score 48,9</a:t>
            </a:r>
          </a:p>
          <a:p>
            <a:pPr>
              <a:spcBef>
                <a:spcPts val="600"/>
              </a:spcBef>
            </a:pPr>
            <a:r>
              <a:rPr sz="1250" b="1" dirty="0">
                <a:solidFill>
                  <a:srgbClr val="1E1B4B"/>
                </a:solidFill>
              </a:rPr>
              <a:t>C0 — Budget prudent</a:t>
            </a:r>
          </a:p>
          <a:p>
            <a:r>
              <a:rPr sz="1050" dirty="0">
                <a:solidFill>
                  <a:srgbClr val="5B6178"/>
                </a:solidFill>
              </a:rPr>
              <a:t>46,2 </a:t>
            </a:r>
            <a:r>
              <a:rPr sz="1050" dirty="0" err="1">
                <a:solidFill>
                  <a:srgbClr val="5B6178"/>
                </a:solidFill>
              </a:rPr>
              <a:t>ans</a:t>
            </a:r>
            <a:r>
              <a:rPr sz="1050" dirty="0">
                <a:solidFill>
                  <a:srgbClr val="5B6178"/>
                </a:solidFill>
              </a:rPr>
              <a:t> | 26,8 k$ | score 18,4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B6178"/>
                </a:solidFill>
              </a:rPr>
              <a:t>Sujet 2 — Segmentation clients e-commerce | Dataset Mall_Customers.csv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669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4B"/>
                </a:solidFill>
              </a:rPr>
              <a:t>Recommandations marketing par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178"/>
                </a:solidFill>
              </a:rPr>
              <a:t>La valeur du projet vient de la traduction des clusters en décisions ciblées.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920240" cy="621792"/>
          </a:xfrm>
          <a:prstGeom prst="roundRect">
            <a:avLst/>
          </a:prstGeom>
          <a:solidFill>
            <a:srgbClr val="6C4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C2 — Premium engagés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1234440"/>
            <a:ext cx="8732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 err="1">
                <a:solidFill>
                  <a:srgbClr val="1E1B4B"/>
                </a:solidFill>
              </a:rPr>
              <a:t>Programme</a:t>
            </a:r>
            <a:r>
              <a:rPr sz="1200" dirty="0">
                <a:solidFill>
                  <a:srgbClr val="1E1B4B"/>
                </a:solidFill>
              </a:rPr>
              <a:t> VIP, ventes </a:t>
            </a:r>
            <a:r>
              <a:rPr sz="1200" dirty="0" err="1">
                <a:solidFill>
                  <a:srgbClr val="1E1B4B"/>
                </a:solidFill>
              </a:rPr>
              <a:t>privées</a:t>
            </a:r>
            <a:r>
              <a:rPr sz="1200" dirty="0">
                <a:solidFill>
                  <a:srgbClr val="1E1B4B"/>
                </a:solidFill>
              </a:rPr>
              <a:t>, </a:t>
            </a:r>
            <a:r>
              <a:rPr sz="1200" dirty="0" err="1">
                <a:solidFill>
                  <a:srgbClr val="1E1B4B"/>
                </a:solidFill>
              </a:rPr>
              <a:t>recommandations</a:t>
            </a:r>
            <a:r>
              <a:rPr sz="1200" dirty="0">
                <a:solidFill>
                  <a:srgbClr val="1E1B4B"/>
                </a:solidFill>
              </a:rPr>
              <a:t> premium, </a:t>
            </a:r>
            <a:r>
              <a:rPr sz="1200" dirty="0" err="1">
                <a:solidFill>
                  <a:srgbClr val="1E1B4B"/>
                </a:solidFill>
              </a:rPr>
              <a:t>fidélisation</a:t>
            </a:r>
            <a:r>
              <a:rPr sz="1200" dirty="0">
                <a:solidFill>
                  <a:srgbClr val="1E1B4B"/>
                </a:solidFill>
              </a:rPr>
              <a:t> haute </a:t>
            </a:r>
            <a:r>
              <a:rPr sz="1200" dirty="0" err="1">
                <a:solidFill>
                  <a:srgbClr val="1E1B4B"/>
                </a:solidFill>
              </a:rPr>
              <a:t>valeur</a:t>
            </a:r>
            <a:r>
              <a:rPr sz="1200" dirty="0">
                <a:solidFill>
                  <a:srgbClr val="1E1B4B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920240" cy="621792"/>
          </a:xfrm>
          <a:prstGeom prst="roundRect">
            <a:avLst/>
          </a:prstGeom>
          <a:solidFill>
            <a:srgbClr val="F2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C3 — Aisés peu actifs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240280"/>
            <a:ext cx="8732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dirty="0" err="1">
                <a:solidFill>
                  <a:srgbClr val="1E1B4B"/>
                </a:solidFill>
              </a:rPr>
              <a:t>Campagnes</a:t>
            </a:r>
            <a:r>
              <a:rPr sz="1200" dirty="0">
                <a:solidFill>
                  <a:srgbClr val="1E1B4B"/>
                </a:solidFill>
              </a:rPr>
              <a:t> de </a:t>
            </a:r>
            <a:r>
              <a:rPr sz="1200" dirty="0" err="1">
                <a:solidFill>
                  <a:srgbClr val="1E1B4B"/>
                </a:solidFill>
              </a:rPr>
              <a:t>réactivation</a:t>
            </a:r>
            <a:r>
              <a:rPr sz="1200" dirty="0">
                <a:solidFill>
                  <a:srgbClr val="1E1B4B"/>
                </a:solidFill>
              </a:rPr>
              <a:t>, bundles </a:t>
            </a:r>
            <a:r>
              <a:rPr sz="1200" dirty="0" err="1">
                <a:solidFill>
                  <a:srgbClr val="1E1B4B"/>
                </a:solidFill>
              </a:rPr>
              <a:t>personnalisés</a:t>
            </a:r>
            <a:r>
              <a:rPr sz="1200" dirty="0">
                <a:solidFill>
                  <a:srgbClr val="1E1B4B"/>
                </a:solidFill>
              </a:rPr>
              <a:t>, relance panier / </a:t>
            </a:r>
            <a:r>
              <a:rPr sz="1200" dirty="0" err="1">
                <a:solidFill>
                  <a:srgbClr val="1E1B4B"/>
                </a:solidFill>
              </a:rPr>
              <a:t>catégories</a:t>
            </a:r>
            <a:r>
              <a:rPr sz="1200" dirty="0">
                <a:solidFill>
                  <a:srgbClr val="1E1B4B"/>
                </a:solidFill>
              </a:rPr>
              <a:t> premium.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920240" cy="621792"/>
          </a:xfrm>
          <a:prstGeom prst="roundRect">
            <a:avLst/>
          </a:prstGeom>
          <a:solidFill>
            <a:srgbClr val="16C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C1 — Jeunes dynamiques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3246120"/>
            <a:ext cx="8732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1B4B"/>
                </a:solidFill>
              </a:rPr>
              <a:t>Offres tendance, mobile-first, promotions limitées, gamification et social commerce.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920240" cy="621792"/>
          </a:xfrm>
          <a:prstGeom prst="roundRect">
            <a:avLst/>
          </a:prstGeom>
          <a:solidFill>
            <a:srgbClr val="5B6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C4 — Matures équilibrés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251960"/>
            <a:ext cx="8732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1B4B"/>
                </a:solidFill>
              </a:rPr>
              <a:t>Communication rassurante, offres packagées, mise en avant du service et de la qualité.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57800"/>
            <a:ext cx="1920240" cy="621792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C0 — Budget prudent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5257800"/>
            <a:ext cx="873252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8E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1E1B4B"/>
                </a:solidFill>
              </a:rPr>
              <a:t>Coupons, promotions prix, produits essentiels, messages très orientés valeur.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6355080"/>
            <a:ext cx="10698480" cy="292608"/>
          </a:xfrm>
          <a:prstGeom prst="roundRect">
            <a:avLst/>
          </a:prstGeom>
          <a:solidFill>
            <a:srgbClr val="16C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Conclusion : la segmentation </a:t>
            </a:r>
            <a:r>
              <a:rPr sz="1100" b="1" dirty="0" err="1">
                <a:solidFill>
                  <a:srgbClr val="FFFFFF"/>
                </a:solidFill>
              </a:rPr>
              <a:t>permet</a:t>
            </a:r>
            <a:r>
              <a:rPr sz="1100" b="1" dirty="0">
                <a:solidFill>
                  <a:srgbClr val="FFFFFF"/>
                </a:solidFill>
              </a:rPr>
              <a:t> de passer </a:t>
            </a:r>
            <a:r>
              <a:rPr sz="1100" b="1" dirty="0" err="1">
                <a:solidFill>
                  <a:srgbClr val="FFFFFF"/>
                </a:solidFill>
              </a:rPr>
              <a:t>d'une</a:t>
            </a:r>
            <a:r>
              <a:rPr sz="1100" b="1" dirty="0">
                <a:solidFill>
                  <a:srgbClr val="FFFFFF"/>
                </a:solidFill>
              </a:rPr>
              <a:t> vision </a:t>
            </a:r>
            <a:r>
              <a:rPr sz="1100" b="1" dirty="0" err="1">
                <a:solidFill>
                  <a:srgbClr val="FFFFFF"/>
                </a:solidFill>
              </a:rPr>
              <a:t>globale</a:t>
            </a:r>
            <a:r>
              <a:rPr sz="1100" b="1" dirty="0">
                <a:solidFill>
                  <a:srgbClr val="FFFFFF"/>
                </a:solidFill>
              </a:rPr>
              <a:t> du </a:t>
            </a:r>
            <a:r>
              <a:rPr sz="1100" b="1" dirty="0" err="1">
                <a:solidFill>
                  <a:srgbClr val="FFFFFF"/>
                </a:solidFill>
              </a:rPr>
              <a:t>portefeuille</a:t>
            </a:r>
            <a:r>
              <a:rPr sz="1100" b="1" dirty="0">
                <a:solidFill>
                  <a:srgbClr val="FFFFFF"/>
                </a:solidFill>
              </a:rPr>
              <a:t> client à des actions marketing </a:t>
            </a:r>
            <a:r>
              <a:rPr sz="1100" b="1" dirty="0" err="1">
                <a:solidFill>
                  <a:srgbClr val="FFFFFF"/>
                </a:solidFill>
              </a:rPr>
              <a:t>personnalisées</a:t>
            </a:r>
            <a:r>
              <a:rPr sz="1100" b="1" dirty="0">
                <a:solidFill>
                  <a:srgbClr val="FFFFFF"/>
                </a:solidFill>
              </a:rPr>
              <a:t> et </a:t>
            </a:r>
            <a:r>
              <a:rPr sz="1100" b="1" dirty="0" err="1">
                <a:solidFill>
                  <a:srgbClr val="FFFFFF"/>
                </a:solidFill>
              </a:rPr>
              <a:t>mesurables</a:t>
            </a:r>
            <a:r>
              <a:rPr sz="1100" b="1" dirty="0">
                <a:solidFill>
                  <a:srgbClr val="FFFFFF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590</Words>
  <Application>Microsoft Office PowerPoint</Application>
  <PresentationFormat>Grand écran</PresentationFormat>
  <Paragraphs>82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Aymen Benbouhia</cp:lastModifiedBy>
  <cp:revision>4</cp:revision>
  <dcterms:created xsi:type="dcterms:W3CDTF">2013-01-27T09:14:16Z</dcterms:created>
  <dcterms:modified xsi:type="dcterms:W3CDTF">2026-05-14T08:33:04Z</dcterms:modified>
  <cp:category/>
</cp:coreProperties>
</file>