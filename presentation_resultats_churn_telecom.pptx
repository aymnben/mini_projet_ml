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655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6"/>
          </a:solidFill>
          <a:ln w="12700">
            <a:solidFill>
              <a:srgbClr val="0812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02920"/>
            <a:ext cx="11155680" cy="0"/>
          </a:xfrm>
          <a:prstGeom prst="line">
            <a:avLst/>
          </a:prstGeom>
          <a:noFill/>
          <a:ln w="15240">
            <a:solidFill>
              <a:srgbClr val="1B9CFC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D9E3"/>
          </a:solidFill>
          <a:ln w="12700">
            <a:solidFill>
              <a:srgbClr val="16D9E3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5D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5D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lecom_abstract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0"/>
            <a:ext cx="52852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3931" y="0"/>
            <a:ext cx="6766560" cy="6858000"/>
          </a:xfrm>
          <a:prstGeom prst="rect">
            <a:avLst/>
          </a:prstGeom>
          <a:solidFill>
            <a:srgbClr val="081226">
              <a:alpha val="98000"/>
            </a:srgbClr>
          </a:solidFill>
          <a:ln w="12700">
            <a:solidFill>
              <a:srgbClr val="081226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1417320"/>
            <a:ext cx="5394960" cy="1678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F4F7FB"/>
                </a:solidFill>
                <a:latin typeface="Aptos" panose="020B0004020202020204" pitchFamily="34" charset="0"/>
              </a:rPr>
              <a:t>Réduction du churn télécom</a:t>
            </a:r>
            <a:endParaRPr lang="en-US" sz="4500" dirty="0">
              <a:latin typeface="Aptos" panose="020B00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02336" y="599389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BCD0"/>
                </a:solidFill>
              </a:rPr>
              <a:t>Aymen Benbouhia</a:t>
            </a:r>
          </a:p>
        </p:txBody>
      </p:sp>
      <p:sp>
        <p:nvSpPr>
          <p:cNvPr id="6" name="Shape 3"/>
          <p:cNvSpPr/>
          <p:nvPr/>
        </p:nvSpPr>
        <p:spPr>
          <a:xfrm>
            <a:off x="749808" y="388620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1B9CFC">
              <a:alpha val="92000"/>
            </a:srgbClr>
          </a:solidFill>
          <a:ln w="12700">
            <a:solidFill>
              <a:srgbClr val="1B9CFC">
                <a:alpha val="4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" y="4005072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7 043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41248" y="436168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clients analysés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61488" y="388620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FF6B6B">
              <a:alpha val="92000"/>
            </a:srgbClr>
          </a:solidFill>
          <a:ln w="12700">
            <a:solidFill>
              <a:srgbClr val="FF6B6B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71216" y="4005072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26,5%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852928" y="436168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taux de churn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73168" y="388620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2BD576">
              <a:alpha val="92000"/>
            </a:srgbClr>
          </a:solidFill>
          <a:ln w="12700">
            <a:solidFill>
              <a:srgbClr val="2BD576">
                <a:alpha val="4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82896" y="4005072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0,84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864608" y="436168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ROC-AUC meilleur modèle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5D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</a:rPr>
              <a:t>1. Vue d’ensemble du jeu de données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10332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CD0"/>
                </a:solidFill>
              </a:rPr>
              <a:t>Base IBM/Kaggle </a:t>
            </a:r>
            <a:r>
              <a:rPr lang="en-US" sz="1150" dirty="0" err="1">
                <a:solidFill>
                  <a:srgbClr val="A9BCD0"/>
                </a:solidFill>
              </a:rPr>
              <a:t>analysée</a:t>
            </a:r>
            <a:r>
              <a:rPr lang="en-US" sz="1150" dirty="0">
                <a:solidFill>
                  <a:srgbClr val="A9BCD0"/>
                </a:solidFill>
              </a:rPr>
              <a:t> 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6446520" cy="4754880"/>
          </a:xfrm>
          <a:prstGeom prst="roundRect">
            <a:avLst>
              <a:gd name="adj" fmla="val 1538"/>
            </a:avLst>
          </a:prstGeom>
          <a:solidFill>
            <a:srgbClr val="10203B">
              <a:alpha val="97000"/>
            </a:srgbClr>
          </a:solidFill>
          <a:ln w="12700">
            <a:solidFill>
              <a:srgbClr val="28456B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141732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10203B">
              <a:alpha val="97000"/>
            </a:srgbClr>
          </a:solidFill>
          <a:ln w="12700">
            <a:solidFill>
              <a:srgbClr val="28456B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55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D9E3"/>
                </a:solidFill>
              </a:rPr>
              <a:t>Objectif métier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41248" y="2139696"/>
            <a:ext cx="82296" cy="82296"/>
          </a:xfrm>
          <a:prstGeom prst="ellipse">
            <a:avLst/>
          </a:prstGeom>
          <a:solidFill>
            <a:srgbClr val="16D9E3"/>
          </a:solidFill>
          <a:ln w="12700">
            <a:solidFill>
              <a:srgbClr val="16D9E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84832"/>
            <a:ext cx="5303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4F7FB"/>
                </a:solidFill>
              </a:rPr>
              <a:t>Comprendre pourquoi certains clients résilient.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41248" y="2560320"/>
            <a:ext cx="82296" cy="82296"/>
          </a:xfrm>
          <a:prstGeom prst="ellipse">
            <a:avLst/>
          </a:prstGeom>
          <a:solidFill>
            <a:srgbClr val="16D9E3"/>
          </a:solidFill>
          <a:ln w="12700">
            <a:solidFill>
              <a:srgbClr val="16D9E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505456"/>
            <a:ext cx="5303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4F7FB"/>
                </a:solidFill>
              </a:rPr>
              <a:t>Repérer les profils les plus à risque.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41248" y="2980944"/>
            <a:ext cx="82296" cy="82296"/>
          </a:xfrm>
          <a:prstGeom prst="ellipse">
            <a:avLst/>
          </a:prstGeom>
          <a:solidFill>
            <a:srgbClr val="16D9E3"/>
          </a:solidFill>
          <a:ln w="12700">
            <a:solidFill>
              <a:srgbClr val="16D9E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926080"/>
            <a:ext cx="5303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4F7FB"/>
                </a:solidFill>
              </a:rPr>
              <a:t>Orienter des actions de fidélisation ciblées.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35478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D9E3"/>
                </a:solidFill>
              </a:rPr>
              <a:t>Ce que contient la base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1248" y="3913632"/>
            <a:ext cx="82296" cy="82296"/>
          </a:xfrm>
          <a:prstGeom prst="ellipse">
            <a:avLst/>
          </a:prstGeom>
          <a:solidFill>
            <a:srgbClr val="16D9E3"/>
          </a:solidFill>
          <a:ln w="12700">
            <a:solidFill>
              <a:srgbClr val="16D9E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858768"/>
            <a:ext cx="5394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4F7FB"/>
                </a:solidFill>
              </a:rPr>
              <a:t>Variables clients : ancienneté, contrat, moyens de paiement.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41248" y="4297680"/>
            <a:ext cx="82296" cy="82296"/>
          </a:xfrm>
          <a:prstGeom prst="ellipse">
            <a:avLst/>
          </a:prstGeom>
          <a:solidFill>
            <a:srgbClr val="16D9E3"/>
          </a:solidFill>
          <a:ln w="12700">
            <a:solidFill>
              <a:srgbClr val="16D9E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242816"/>
            <a:ext cx="5394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4F7FB"/>
                </a:solidFill>
              </a:rPr>
              <a:t>Services souscrits : internet, sécurité, streaming, support.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41248" y="4681728"/>
            <a:ext cx="82296" cy="82296"/>
          </a:xfrm>
          <a:prstGeom prst="ellipse">
            <a:avLst/>
          </a:prstGeom>
          <a:solidFill>
            <a:srgbClr val="16D9E3"/>
          </a:solidFill>
          <a:ln w="12700">
            <a:solidFill>
              <a:srgbClr val="16D9E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4626864"/>
            <a:ext cx="5394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4F7FB"/>
                </a:solidFill>
              </a:rPr>
              <a:t>Cible binaire : Churn = Yes / No.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662672" y="178308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1B9CFC">
              <a:alpha val="92000"/>
            </a:srgbClr>
          </a:solidFill>
          <a:ln w="12700">
            <a:solidFill>
              <a:srgbClr val="1B9CFC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1901952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754112" y="22585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colonnes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491472" y="178308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2BD576">
              <a:alpha val="92000"/>
            </a:srgbClr>
          </a:solidFill>
          <a:ln w="12700">
            <a:solidFill>
              <a:srgbClr val="2BD576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0" y="1901952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5 174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582912" y="22585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clients retenus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662672" y="2852928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F6B6B">
              <a:alpha val="92000"/>
            </a:srgbClr>
          </a:solidFill>
          <a:ln w="12700">
            <a:solidFill>
              <a:srgbClr val="FF6B6B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2971800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1 869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754112" y="33284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clients churn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491472" y="2852928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FB84D">
              <a:alpha val="92000"/>
            </a:srgbClr>
          </a:solidFill>
          <a:ln w="12700">
            <a:solidFill>
              <a:srgbClr val="FFB84D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0" y="2971800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73,5%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582912" y="33284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non churn</a:t>
            </a:r>
            <a:endParaRPr lang="en-US" sz="950" dirty="0"/>
          </a:p>
        </p:txBody>
      </p:sp>
      <p:pic>
        <p:nvPicPr>
          <p:cNvPr id="32" name="Image 0" descr="/mnt/data/phone_inter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3938896"/>
            <a:ext cx="3520440" cy="1449087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726680" y="557784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7FB"/>
                </a:solidFill>
              </a:rPr>
              <a:t>Lecture : le churn n’est pas marginal.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4F7FB"/>
                </a:solidFill>
              </a:rPr>
              <a:t>Environ 1 client sur 4 quitte l’entreprise.</a:t>
            </a:r>
            <a:endParaRPr lang="en-US" sz="13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5D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</a:rPr>
              <a:t>2. Résultat principal : le churn est élevé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10332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CD0"/>
                </a:solidFill>
              </a:rPr>
              <a:t>Répartition globale observée dans les données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577840" cy="4800600"/>
          </a:xfrm>
          <a:prstGeom prst="roundRect">
            <a:avLst>
              <a:gd name="adj" fmla="val 1524"/>
            </a:avLst>
          </a:prstGeom>
          <a:solidFill>
            <a:srgbClr val="10203B">
              <a:alpha val="97000"/>
            </a:srgbClr>
          </a:solidFill>
          <a:ln w="12700">
            <a:solidFill>
              <a:srgbClr val="28456B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19088" y="1417320"/>
            <a:ext cx="5166360" cy="4800600"/>
          </a:xfrm>
          <a:prstGeom prst="roundRect">
            <a:avLst>
              <a:gd name="adj" fmla="val 1524"/>
            </a:avLst>
          </a:prstGeom>
          <a:solidFill>
            <a:srgbClr val="10203B">
              <a:alpha val="97000"/>
            </a:srgbClr>
          </a:solidFill>
          <a:ln w="12700">
            <a:solidFill>
              <a:srgbClr val="28456B">
                <a:alpha val="65000"/>
              </a:srgbClr>
            </a:solidFill>
            <a:prstDash val="solid"/>
          </a:ln>
        </p:spPr>
      </p:sp>
      <p:pic>
        <p:nvPicPr>
          <p:cNvPr id="6" name="Image 0" descr="/mnt/data/churn_ppt_assets/churn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874520"/>
            <a:ext cx="4800600" cy="3840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48272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D9E3"/>
                </a:solidFill>
              </a:rPr>
              <a:t>Points de lecture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748272" y="2194560"/>
            <a:ext cx="82296" cy="82296"/>
          </a:xfrm>
          <a:prstGeom prst="ellipse">
            <a:avLst/>
          </a:prstGeom>
          <a:solidFill>
            <a:srgbClr val="16D9E3"/>
          </a:solidFill>
          <a:ln w="12700">
            <a:solidFill>
              <a:srgbClr val="16D9E3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94576" y="2139696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</a:rPr>
              <a:t>26,54 % des clients ont résilié.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748272" y="2724912"/>
            <a:ext cx="82296" cy="82296"/>
          </a:xfrm>
          <a:prstGeom prst="ellipse">
            <a:avLst/>
          </a:prstGeom>
          <a:solidFill>
            <a:srgbClr val="16D9E3"/>
          </a:solidFill>
          <a:ln w="12700">
            <a:solidFill>
              <a:srgbClr val="16D9E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94576" y="2670048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</a:rPr>
              <a:t>Le problème est suffisamment important pour justifier une détection précoce.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748272" y="3255264"/>
            <a:ext cx="82296" cy="82296"/>
          </a:xfrm>
          <a:prstGeom prst="ellipse">
            <a:avLst/>
          </a:prstGeom>
          <a:solidFill>
            <a:srgbClr val="16D9E3"/>
          </a:solidFill>
          <a:ln w="12700">
            <a:solidFill>
              <a:srgbClr val="16D9E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94576" y="3200400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</a:rPr>
              <a:t>Le déséquilibre de classes reste modéré : les modèles peuvent apprendre correctement.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784848" y="4160520"/>
            <a:ext cx="4114800" cy="1261872"/>
          </a:xfrm>
          <a:prstGeom prst="roundRect">
            <a:avLst>
              <a:gd name="adj" fmla="val 5797"/>
            </a:avLst>
          </a:prstGeom>
          <a:solidFill>
            <a:srgbClr val="12294C"/>
          </a:solidFill>
          <a:ln w="12700">
            <a:solidFill>
              <a:srgbClr val="1B9CFC">
                <a:alpha val="6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95160" y="43708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4D"/>
                </a:solidFill>
              </a:rPr>
              <a:t>Insight métier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995160" y="464515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Un taux autour de 26 % signifie qu’une stratégie de rétention peut générer un impact financier direct et rapide.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5D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</a:rPr>
              <a:t>3. Les facteurs les plus liés au churn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10332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CD0"/>
                </a:solidFill>
              </a:rPr>
              <a:t>Contrat, ancienneté et pression tarifaire ressortent nettement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10203B">
              <a:alpha val="97000"/>
            </a:srgbClr>
          </a:solidFill>
          <a:ln w="12700">
            <a:solidFill>
              <a:srgbClr val="28456B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3822192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10203B">
              <a:alpha val="97000"/>
            </a:srgbClr>
          </a:solidFill>
          <a:ln w="12700">
            <a:solidFill>
              <a:srgbClr val="28456B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27648" y="1389888"/>
            <a:ext cx="5257800" cy="4764024"/>
          </a:xfrm>
          <a:prstGeom prst="roundRect">
            <a:avLst>
              <a:gd name="adj" fmla="val 1536"/>
            </a:avLst>
          </a:prstGeom>
          <a:solidFill>
            <a:srgbClr val="10203B">
              <a:alpha val="97000"/>
            </a:srgbClr>
          </a:solidFill>
          <a:ln w="12700">
            <a:solidFill>
              <a:srgbClr val="28456B">
                <a:alpha val="65000"/>
              </a:srgbClr>
            </a:solidFill>
            <a:prstDash val="solid"/>
          </a:ln>
        </p:spPr>
      </p:sp>
      <p:pic>
        <p:nvPicPr>
          <p:cNvPr id="7" name="Image 0" descr="/mnt/data/churn_ppt_assets/contract_ch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390" y="1627632"/>
            <a:ext cx="2674620" cy="1783080"/>
          </a:xfrm>
          <a:prstGeom prst="rect">
            <a:avLst/>
          </a:prstGeom>
        </p:spPr>
      </p:pic>
      <p:pic>
        <p:nvPicPr>
          <p:cNvPr id="8" name="Image 1" descr="/mnt/data/churn_ppt_assets/tenure_monthly_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2184" y="4041648"/>
            <a:ext cx="3657600" cy="1828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75120" y="17556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D9E3"/>
                </a:solidFill>
              </a:rPr>
              <a:t>Interprétation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656832" y="2130552"/>
            <a:ext cx="82296" cy="82296"/>
          </a:xfrm>
          <a:prstGeom prst="ellipse">
            <a:avLst/>
          </a:prstGeom>
          <a:solidFill>
            <a:srgbClr val="16D9E3"/>
          </a:solidFill>
          <a:ln w="12700">
            <a:solidFill>
              <a:srgbClr val="16D9E3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03136" y="2075688"/>
            <a:ext cx="4251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50" dirty="0">
              <a:solidFill>
                <a:srgbClr val="F4F7FB"/>
              </a:solidFill>
            </a:endParaRPr>
          </a:p>
          <a:p>
            <a:pPr marL="0" indent="0">
              <a:buNone/>
            </a:pPr>
            <a:r>
              <a:rPr lang="en-US" sz="1550" dirty="0">
                <a:solidFill>
                  <a:srgbClr val="F4F7FB"/>
                </a:solidFill>
              </a:rPr>
              <a:t>Le contrat mensuel concentre 42,7 % de churn, très au-dessus des contrats 1 an et 2 ans.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6656832" y="2752344"/>
            <a:ext cx="82296" cy="82296"/>
          </a:xfrm>
          <a:prstGeom prst="ellipse">
            <a:avLst/>
          </a:prstGeom>
          <a:solidFill>
            <a:srgbClr val="16D9E3"/>
          </a:solidFill>
          <a:ln w="12700">
            <a:solidFill>
              <a:srgbClr val="16D9E3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03136" y="2697480"/>
            <a:ext cx="4251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50" dirty="0">
              <a:solidFill>
                <a:srgbClr val="F4F7FB"/>
              </a:solidFill>
            </a:endParaRPr>
          </a:p>
          <a:p>
            <a:pPr marL="0" indent="0">
              <a:buNone/>
            </a:pPr>
            <a:r>
              <a:rPr lang="en-US" sz="1550" dirty="0">
                <a:solidFill>
                  <a:srgbClr val="F4F7FB"/>
                </a:solidFill>
              </a:rPr>
              <a:t>Les clients qui partent ont une ancienneté nettement plus faible : la phase d’onboarding est critique.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6656832" y="3374136"/>
            <a:ext cx="82296" cy="82296"/>
          </a:xfrm>
          <a:prstGeom prst="ellipse">
            <a:avLst/>
          </a:prstGeom>
          <a:solidFill>
            <a:srgbClr val="16D9E3"/>
          </a:solidFill>
          <a:ln w="12700">
            <a:solidFill>
              <a:srgbClr val="16D9E3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03136" y="3319272"/>
            <a:ext cx="4251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50" dirty="0">
              <a:solidFill>
                <a:srgbClr val="F4F7FB"/>
              </a:solidFill>
            </a:endParaRPr>
          </a:p>
          <a:p>
            <a:pPr marL="0" indent="0">
              <a:buNone/>
            </a:pPr>
            <a:r>
              <a:rPr lang="en-US" sz="1550" dirty="0">
                <a:solidFill>
                  <a:srgbClr val="F4F7FB"/>
                </a:solidFill>
              </a:rPr>
              <a:t>Les churners supportent aussi des mensualités plus élevées en moyenne.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6675120" y="42245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B84D"/>
                </a:solidFill>
              </a:rPr>
              <a:t>Variables saillantes du meilleur modèle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720840" y="4535424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tenure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Contract = Month-to-month / Two year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InternetService = Fiber optic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MonthlyCharges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PaymentMethod = Electronic check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5D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</a:rPr>
              <a:t>4. Comparaison des modèles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10332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CD0"/>
                </a:solidFill>
              </a:rPr>
              <a:t>La régression logistique obtient le meilleur compromis pour ce cas d’usage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6537960" cy="4800600"/>
          </a:xfrm>
          <a:prstGeom prst="roundRect">
            <a:avLst>
              <a:gd name="adj" fmla="val 1524"/>
            </a:avLst>
          </a:prstGeom>
          <a:solidFill>
            <a:srgbClr val="10203B">
              <a:alpha val="97000"/>
            </a:srgbClr>
          </a:solidFill>
          <a:ln w="12700">
            <a:solidFill>
              <a:srgbClr val="28456B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1417320"/>
            <a:ext cx="4251960" cy="4800600"/>
          </a:xfrm>
          <a:prstGeom prst="roundRect">
            <a:avLst>
              <a:gd name="adj" fmla="val 1720"/>
            </a:avLst>
          </a:prstGeom>
          <a:solidFill>
            <a:srgbClr val="10203B">
              <a:alpha val="97000"/>
            </a:srgbClr>
          </a:solidFill>
          <a:ln w="12700">
            <a:solidFill>
              <a:srgbClr val="28456B">
                <a:alpha val="65000"/>
              </a:srgbClr>
            </a:solidFill>
            <a:prstDash val="solid"/>
          </a:ln>
        </p:spPr>
      </p:sp>
      <p:pic>
        <p:nvPicPr>
          <p:cNvPr id="6" name="Image 0" descr="/mnt/data/churn_ppt_assets/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254" y="1856232"/>
            <a:ext cx="4634453" cy="2606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46634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D9E3"/>
                </a:solidFill>
              </a:rPr>
              <a:t>Résumé chiffré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49560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Régression logistique : Accuracy 0,738 | Precision 0,504 | Recall 0,783 | F1 0,614 | ROC-AUC 0,841</a:t>
            </a:r>
            <a:endParaRPr lang="en-US" sz="1350" dirty="0"/>
          </a:p>
        </p:txBody>
      </p:sp>
      <p:pic>
        <p:nvPicPr>
          <p:cNvPr id="9" name="Image 1" descr="/mnt/data/churn_ppt_assets/r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4612" y="1737360"/>
            <a:ext cx="2865120" cy="21488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635240" y="41605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112645"/>
          </a:solidFill>
          <a:ln w="12700">
            <a:solidFill>
              <a:srgbClr val="2BD576">
                <a:alpha val="6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863840" y="43708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D576"/>
                </a:solidFill>
              </a:rPr>
              <a:t>Pourquoi ce modèle ?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845552" y="460857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Il maximise le recall : 78,3 % des churners sont détectés. C’est pertinent quand le coût d’un client perdu est supérieur au coût d’une action marketing inutile.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5D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</a:rPr>
              <a:t>5. Recommandations métier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10332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CD0"/>
                </a:solidFill>
              </a:rPr>
              <a:t>Transformer la prédiction en plan d’action fidélisation</a:t>
            </a:r>
            <a:endParaRPr lang="en-US" sz="1150" dirty="0"/>
          </a:p>
        </p:txBody>
      </p:sp>
      <p:pic>
        <p:nvPicPr>
          <p:cNvPr id="4" name="Image 0" descr="/mnt/data/callcenter_team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325880"/>
            <a:ext cx="5074920" cy="5212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417320"/>
            <a:ext cx="5577840" cy="4983480"/>
          </a:xfrm>
          <a:prstGeom prst="roundRect">
            <a:avLst>
              <a:gd name="adj" fmla="val 1468"/>
            </a:avLst>
          </a:prstGeom>
          <a:solidFill>
            <a:srgbClr val="10203B">
              <a:alpha val="97000"/>
            </a:srgbClr>
          </a:solidFill>
          <a:ln w="12700">
            <a:solidFill>
              <a:srgbClr val="28456B">
                <a:alpha val="6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17830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D9E3"/>
                </a:solidFill>
              </a:rPr>
              <a:t>Actions prioritaires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77824" y="2185416"/>
            <a:ext cx="82296" cy="82296"/>
          </a:xfrm>
          <a:prstGeom prst="ellipse">
            <a:avLst/>
          </a:prstGeom>
          <a:solidFill>
            <a:srgbClr val="16D9E3"/>
          </a:solidFill>
          <a:ln w="12700">
            <a:solidFill>
              <a:srgbClr val="16D9E3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2130552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F4F7FB"/>
                </a:solidFill>
              </a:rPr>
              <a:t>Cibler dès les premiers mois les nouveaux clients à risque.</a:t>
            </a:r>
            <a:endParaRPr lang="en-US" sz="1530" dirty="0"/>
          </a:p>
        </p:txBody>
      </p:sp>
      <p:sp>
        <p:nvSpPr>
          <p:cNvPr id="9" name="Shape 6"/>
          <p:cNvSpPr/>
          <p:nvPr/>
        </p:nvSpPr>
        <p:spPr>
          <a:xfrm>
            <a:off x="877824" y="2770632"/>
            <a:ext cx="82296" cy="82296"/>
          </a:xfrm>
          <a:prstGeom prst="ellipse">
            <a:avLst/>
          </a:prstGeom>
          <a:solidFill>
            <a:srgbClr val="16D9E3"/>
          </a:solidFill>
          <a:ln w="12700">
            <a:solidFill>
              <a:srgbClr val="16D9E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2715768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F4F7FB"/>
                </a:solidFill>
              </a:rPr>
              <a:t>Inciter les abonnés mensuels à passer sur des contrats plus longs.</a:t>
            </a:r>
            <a:endParaRPr lang="en-US" sz="1530" dirty="0"/>
          </a:p>
        </p:txBody>
      </p:sp>
      <p:sp>
        <p:nvSpPr>
          <p:cNvPr id="11" name="Shape 8"/>
          <p:cNvSpPr/>
          <p:nvPr/>
        </p:nvSpPr>
        <p:spPr>
          <a:xfrm>
            <a:off x="877824" y="3355848"/>
            <a:ext cx="82296" cy="82296"/>
          </a:xfrm>
          <a:prstGeom prst="ellipse">
            <a:avLst/>
          </a:prstGeom>
          <a:solidFill>
            <a:srgbClr val="16D9E3"/>
          </a:solidFill>
          <a:ln w="12700">
            <a:solidFill>
              <a:srgbClr val="16D9E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4128" y="3300984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F4F7FB"/>
                </a:solidFill>
              </a:rPr>
              <a:t>Surveiller les clients à forte mensualité et ceux en paiement électronique.</a:t>
            </a:r>
            <a:endParaRPr lang="en-US" sz="1530" dirty="0"/>
          </a:p>
        </p:txBody>
      </p:sp>
      <p:sp>
        <p:nvSpPr>
          <p:cNvPr id="13" name="Shape 10"/>
          <p:cNvSpPr/>
          <p:nvPr/>
        </p:nvSpPr>
        <p:spPr>
          <a:xfrm>
            <a:off x="877824" y="3941064"/>
            <a:ext cx="82296" cy="82296"/>
          </a:xfrm>
          <a:prstGeom prst="ellipse">
            <a:avLst/>
          </a:prstGeom>
          <a:solidFill>
            <a:srgbClr val="16D9E3"/>
          </a:solidFill>
          <a:ln w="12700">
            <a:solidFill>
              <a:srgbClr val="16D9E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24128" y="3886200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F4F7FB"/>
                </a:solidFill>
              </a:rPr>
              <a:t>Déclencher une offre de rétention ou un appel sortant pour les scores élevés de churn.</a:t>
            </a:r>
            <a:endParaRPr lang="en-US" sz="1530" dirty="0"/>
          </a:p>
        </p:txBody>
      </p:sp>
      <p:sp>
        <p:nvSpPr>
          <p:cNvPr id="15" name="Shape 12"/>
          <p:cNvSpPr/>
          <p:nvPr/>
        </p:nvSpPr>
        <p:spPr>
          <a:xfrm>
            <a:off x="877824" y="4873752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12294C"/>
          </a:solidFill>
          <a:ln w="12700">
            <a:solidFill>
              <a:srgbClr val="FFB84D">
                <a:alpha val="6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97280" y="50932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4D"/>
                </a:solidFill>
              </a:rPr>
              <a:t>Décision recommandée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097280" y="5321808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</a:rPr>
              <a:t>Déployer un score churn hebdomadaire pour prioriser les campagnes CRM et le support fidélisation.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5D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</a:rPr>
              <a:t>6. 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434840"/>
          </a:xfrm>
          <a:prstGeom prst="roundRect">
            <a:avLst>
              <a:gd name="adj" fmla="val 1649"/>
            </a:avLst>
          </a:prstGeom>
          <a:solidFill>
            <a:srgbClr val="10203B">
              <a:alpha val="97000"/>
            </a:srgbClr>
          </a:solidFill>
          <a:ln w="12700">
            <a:solidFill>
              <a:srgbClr val="28456B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F6B6B">
              <a:alpha val="92000"/>
            </a:srgbClr>
          </a:solidFill>
          <a:ln w="12700">
            <a:solidFill>
              <a:srgbClr val="FF6B6B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084832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42,7%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24414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churn contrat mensuel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63240" y="196596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2BD576">
              <a:alpha val="92000"/>
            </a:srgbClr>
          </a:solidFill>
          <a:ln w="12700">
            <a:solidFill>
              <a:srgbClr val="2BD576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72968" y="2084832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78,3%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154680" y="24414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recall meilleur modèle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57800" y="196596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FB84D">
              <a:alpha val="92000"/>
            </a:srgbClr>
          </a:solidFill>
          <a:ln w="12700">
            <a:solidFill>
              <a:srgbClr val="FFB84D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67528" y="2084832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0,614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49240" y="24414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F1 score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52360" y="196596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1B9CFC">
              <a:alpha val="92000"/>
            </a:srgbClr>
          </a:solidFill>
          <a:ln w="12700">
            <a:solidFill>
              <a:srgbClr val="1B9CFC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62088" y="2084832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0,841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43800" y="24414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ROC-AUC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32461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D9E3"/>
                </a:solidFill>
              </a:rPr>
              <a:t>Synthèse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356616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4F7FB"/>
                </a:solidFill>
              </a:rPr>
              <a:t>Le churn est surtout porté par les clients récents, faiblement engagés et/ou soumis à des coûts élevés. Un modèle simple, interprétable et bien calibré permet déjà de détecter l’essentiel des départs potentiels. La valeur business vient ensuite de l’activation : campagnes de rétention, offres ciblées et support proactif.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5D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521</Words>
  <Application>Microsoft Office PowerPoint</Application>
  <PresentationFormat>Grand écran</PresentationFormat>
  <Paragraphs>91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Réduction du churn télécom — résultats</dc:title>
  <dc:subject>Présentation des résultats - churn télécom</dc:subject>
  <dc:creator>OpenAI</dc:creator>
  <cp:lastModifiedBy>Aymen Benbouhia</cp:lastModifiedBy>
  <cp:revision>3</cp:revision>
  <dcterms:created xsi:type="dcterms:W3CDTF">2026-04-23T13:20:33Z</dcterms:created>
  <dcterms:modified xsi:type="dcterms:W3CDTF">2026-05-14T08:29:15Z</dcterms:modified>
</cp:coreProperties>
</file>