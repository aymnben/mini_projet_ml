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2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/>
              <a:t>G3 moyen selon studytime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Moyenne G3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</c:v>
                </c:pt>
                <c:pt idx="1">
                  <c:v>11</c:v>
                </c:pt>
                <c:pt idx="2">
                  <c:v>12.1</c:v>
                </c:pt>
                <c:pt idx="3">
                  <c:v>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D1-48C5-8D7C-2805CC7637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/>
              <a:t>G3 moyen selon failures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Moyenne G3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9.5</c:v>
                </c:pt>
                <c:pt idx="2">
                  <c:v>8.1999999999999993</c:v>
                </c:pt>
                <c:pt idx="3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64-4DCD-8C5C-FAD413B79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766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3B53"/>
                </a:solidFill>
              </a:defRPr>
            </a:pPr>
            <a:r>
              <a:t>Amélioration de la réussite des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E78"/>
                </a:solidFill>
              </a:defRPr>
            </a:pPr>
            <a:r>
              <a:rPr dirty="0" err="1"/>
              <a:t>Analyse</a:t>
            </a:r>
            <a:r>
              <a:rPr dirty="0"/>
              <a:t> des </a:t>
            </a:r>
            <a:r>
              <a:rPr dirty="0" err="1"/>
              <a:t>profils</a:t>
            </a:r>
            <a:r>
              <a:rPr dirty="0"/>
              <a:t> </a:t>
            </a:r>
            <a:r>
              <a:rPr dirty="0" err="1"/>
              <a:t>étudiants</a:t>
            </a:r>
            <a:r>
              <a:rPr dirty="0"/>
              <a:t>, </a:t>
            </a:r>
            <a:r>
              <a:rPr dirty="0" err="1"/>
              <a:t>facteurs</a:t>
            </a:r>
            <a:r>
              <a:rPr dirty="0"/>
              <a:t> de performance et </a:t>
            </a:r>
            <a:r>
              <a:rPr dirty="0" err="1"/>
              <a:t>recommandations</a:t>
            </a:r>
            <a:r>
              <a:rPr dirty="0"/>
              <a:t> </a:t>
            </a:r>
            <a:r>
              <a:rPr dirty="0" err="1"/>
              <a:t>pédagogiques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235440" y="731520"/>
            <a:ext cx="1005840" cy="1005840"/>
          </a:xfrm>
          <a:prstGeom prst="ellipse">
            <a:avLst/>
          </a:prstGeom>
          <a:solidFill>
            <a:srgbClr val="EE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9966960" y="1874519"/>
            <a:ext cx="1005840" cy="1005840"/>
          </a:xfrm>
          <a:prstGeom prst="ellipse">
            <a:avLst/>
          </a:prstGeom>
          <a:solidFill>
            <a:srgbClr val="11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0" y="2377440"/>
            <a:ext cx="1005840" cy="1005840"/>
          </a:xfrm>
          <a:prstGeom prst="ellipse">
            <a:avLst/>
          </a:prstGeom>
          <a:solidFill>
            <a:srgbClr val="79B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B53"/>
                </a:solidFill>
              </a:defRPr>
            </a:pPr>
            <a:r>
              <a:t>Contexte et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8"/>
                </a:solidFill>
              </a:defRPr>
            </a:pPr>
            <a:r>
              <a:t>Une université souhaite améliorer la réussite académique en exploitant les données étudiantes.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730"/>
                </a:solidFill>
              </a:defRPr>
            </a:pPr>
            <a:r>
              <a:t>Comprendre les différents profils d’étudiants.</a:t>
            </a:r>
          </a:p>
          <a:p>
            <a:pPr>
              <a:spcAft>
                <a:spcPts val="1000"/>
              </a:spcAft>
              <a:defRPr sz="2000">
                <a:solidFill>
                  <a:srgbClr val="1F2730"/>
                </a:solidFill>
              </a:defRPr>
            </a:pPr>
            <a:r>
              <a:t>Identifier les variables qui influencent la réussite.</a:t>
            </a:r>
          </a:p>
          <a:p>
            <a:pPr>
              <a:spcAft>
                <a:spcPts val="1000"/>
              </a:spcAft>
              <a:defRPr sz="2000">
                <a:solidFill>
                  <a:srgbClr val="1F2730"/>
                </a:solidFill>
              </a:defRPr>
            </a:pPr>
            <a:r>
              <a:t>Anticiper les étudiants à risque d’échec.</a:t>
            </a:r>
          </a:p>
          <a:p>
            <a:pPr>
              <a:spcAft>
                <a:spcPts val="1000"/>
              </a:spcAft>
              <a:defRPr sz="2000">
                <a:solidFill>
                  <a:srgbClr val="1F2730"/>
                </a:solidFill>
              </a:defRPr>
            </a:pPr>
            <a:r>
              <a:t>Proposer des actions pédagogiques adaptées.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00200"/>
            <a:ext cx="4709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0" y="1600200"/>
            <a:ext cx="73152" cy="1828800"/>
          </a:xfrm>
          <a:prstGeom prst="rect">
            <a:avLst/>
          </a:prstGeom>
          <a:solidFill>
            <a:srgbClr val="11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Problématique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2976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Comment analyser ces données pour mieux comprendre les profils, identifier les facteurs de réussite et proposer un accompagnement efficace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703320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3703320"/>
            <a:ext cx="73152" cy="1417320"/>
          </a:xfrm>
          <a:prstGeom prst="rect">
            <a:avLst/>
          </a:prstGeom>
          <a:solidFill>
            <a:srgbClr val="18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3867911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Approche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251959"/>
            <a:ext cx="42976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Analyse exploratoire + modèles de classification + segmentation des profils.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B53"/>
                </a:solidFill>
              </a:defRPr>
            </a:pPr>
            <a:r>
              <a:t>Présentation du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8"/>
                </a:solidFill>
              </a:defRPr>
            </a:pPr>
            <a:r>
              <a:t>Dataset Student Alcohol Consumption : données scolaires, familiales et comportementales.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1234440"/>
          </a:xfrm>
          <a:prstGeom prst="rect">
            <a:avLst/>
          </a:prstGeom>
          <a:solidFill>
            <a:srgbClr val="18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Données scolaires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30632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Notes G1, G2, G3, échecs précédents, temps d’étude.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63040"/>
            <a:ext cx="73152" cy="1234440"/>
          </a:xfrm>
          <a:prstGeom prst="rect">
            <a:avLst/>
          </a:prstGeom>
          <a:solidFill>
            <a:srgbClr val="EE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2763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Profil personnel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0632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Âge, sexe, école, situation familiale, adresse.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73152" cy="1234440"/>
          </a:xfrm>
          <a:prstGeom prst="rect">
            <a:avLst/>
          </a:prstGeom>
          <a:solidFill>
            <a:srgbClr val="11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62763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Habitudes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0632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Absences, sorties, consommation d’alcool, santé.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730"/>
                </a:solidFill>
              </a:defRPr>
            </a:pPr>
            <a:r>
              <a:t>Variable cible créée : Success = 1 si G3 ≥ 10, sinon 0.</a:t>
            </a:r>
          </a:p>
          <a:p>
            <a:pPr>
              <a:spcAft>
                <a:spcPts val="1000"/>
              </a:spcAft>
              <a:defRPr sz="1800">
                <a:solidFill>
                  <a:srgbClr val="1F2730"/>
                </a:solidFill>
              </a:defRPr>
            </a:pPr>
            <a:r>
              <a:t>Le projet peut être traité comme un problème de classification : réussite ou difficulté.</a:t>
            </a:r>
          </a:p>
          <a:p>
            <a:pPr>
              <a:spcAft>
                <a:spcPts val="1000"/>
              </a:spcAft>
              <a:defRPr sz="1800">
                <a:solidFill>
                  <a:srgbClr val="1F2730"/>
                </a:solidFill>
              </a:defRPr>
            </a:pPr>
            <a:r>
              <a:t>Les notes G1, G2 et G3 peuvent être retirées du modèle pour éviter une prédiction trop directe.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B53"/>
                </a:solidFill>
              </a:defRPr>
            </a:pPr>
            <a:r>
              <a:t>Démarche analytique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8"/>
                </a:solidFill>
              </a:defRPr>
            </a:pPr>
            <a:r>
              <a:t>Une démarche complète de la donnée vers la décision pédagogique.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2057400"/>
          </a:xfrm>
          <a:prstGeom prst="rect">
            <a:avLst/>
          </a:prstGeom>
          <a:solidFill>
            <a:srgbClr val="18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1. Nettoyage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6459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Valeurs manquantes, doublons,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1828800"/>
            <a:ext cx="73152" cy="2057400"/>
          </a:xfrm>
          <a:prstGeom prst="rect">
            <a:avLst/>
          </a:prstGeom>
          <a:solidFill>
            <a:srgbClr val="EE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993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2. 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16459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Graphiques et tendances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0" y="1828800"/>
            <a:ext cx="73152" cy="2057400"/>
          </a:xfrm>
          <a:prstGeom prst="rect">
            <a:avLst/>
          </a:prstGeom>
          <a:solidFill>
            <a:srgbClr val="18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1993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3. Modélisation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377440"/>
            <a:ext cx="16459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Prédiction de la réussite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43800" y="1828800"/>
            <a:ext cx="73152" cy="2057400"/>
          </a:xfrm>
          <a:prstGeom prst="rect">
            <a:avLst/>
          </a:prstGeom>
          <a:solidFill>
            <a:srgbClr val="EE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1993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4. 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77440"/>
            <a:ext cx="16459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Profils d’étudiants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84080" y="1828800"/>
            <a:ext cx="73152" cy="2057400"/>
          </a:xfrm>
          <a:prstGeom prst="rect">
            <a:avLst/>
          </a:prstGeom>
          <a:solidFill>
            <a:srgbClr val="18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1993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5. Recommandations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377440"/>
            <a:ext cx="16459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Actions pédagogiques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B53"/>
                </a:solidFill>
              </a:defRPr>
            </a:pPr>
            <a:r>
              <a:t>Graphes d’analyse exploratoire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8"/>
                </a:solidFill>
              </a:defRPr>
            </a:pPr>
            <a:r>
              <a:t>Les graphes du notebook permettent de comprendre les facteurs liés à la performance.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600200"/>
          <a:ext cx="47548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0" y="1600200"/>
          <a:ext cx="47548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4160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730"/>
                </a:solidFill>
              </a:defRPr>
            </a:pPr>
            <a:r>
              <a:t>Le temps d’étude est généralement associé à une meilleure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1F2730"/>
                </a:solidFill>
              </a:defRPr>
            </a:pPr>
            <a:r>
              <a:t>Les échecs précédents et les absences peuvent indiquer un risque scolaire plus élevé.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B53"/>
                </a:solidFill>
              </a:defRPr>
            </a:pPr>
            <a:r>
              <a:t>Modélisation prédictive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8"/>
                </a:solidFill>
              </a:defRPr>
            </a:pPr>
            <a:r>
              <a:t>Comparer plusieurs modèles pour détecter les étudiants à risque.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73152" cy="2286000"/>
          </a:xfrm>
          <a:prstGeom prst="rect">
            <a:avLst/>
          </a:prstGeom>
          <a:solidFill>
            <a:srgbClr val="18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Régression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9718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Modèle simple, interprétable et adapté à une classification binaire.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3152" cy="2286000"/>
          </a:xfrm>
          <a:prstGeom prst="rect">
            <a:avLst/>
          </a:prstGeom>
          <a:solidFill>
            <a:srgbClr val="EE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Arbre de décision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29718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Facile à expliquer sous forme de règles pédagogiques.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73152" cy="2286000"/>
          </a:xfrm>
          <a:prstGeom prst="rect">
            <a:avLst/>
          </a:prstGeom>
          <a:solidFill>
            <a:srgbClr val="11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29718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Plus robuste, permet d’identifier les variables les plus importantes.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730"/>
                </a:solidFill>
              </a:defRPr>
            </a:pPr>
            <a:r>
              <a:t>Métriques utilisées : Accuracy, Precision, Recall, F1-score et ROC-AUC.</a:t>
            </a:r>
          </a:p>
          <a:p>
            <a:pPr>
              <a:spcAft>
                <a:spcPts val="1000"/>
              </a:spcAft>
              <a:defRPr sz="1600">
                <a:solidFill>
                  <a:srgbClr val="1F2730"/>
                </a:solidFill>
              </a:defRPr>
            </a:pPr>
            <a:r>
              <a:t>Le F1-score est utile pour équilibrer détection des difficultés et limitation des fausses alertes.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B53"/>
                </a:solidFill>
              </a:defRPr>
            </a:pPr>
            <a:r>
              <a:t>Segmentation des profils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8"/>
                </a:solidFill>
              </a:defRPr>
            </a:pPr>
            <a:r>
              <a:t>K-Means permet de regrouper les étudiants selon leurs habitudes et risques.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417320"/>
            <a:ext cx="73152" cy="2834640"/>
          </a:xfrm>
          <a:prstGeom prst="rect">
            <a:avLst/>
          </a:prstGeom>
          <a:solidFill>
            <a:srgbClr val="18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581912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Profil 1 —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2834639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Bon temps d’étude, peu d’absences, faible risque. Objectif : maintenir la motivation.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2834640"/>
          </a:xfrm>
          <a:prstGeom prst="rect">
            <a:avLst/>
          </a:prstGeom>
          <a:solidFill>
            <a:srgbClr val="EE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581912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Profil 2 — À accompagner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65960"/>
            <a:ext cx="2834639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Absences ou difficultés passées. Objectif : suivi régulier et tutorat.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2834640"/>
          </a:xfrm>
          <a:prstGeom prst="rect">
            <a:avLst/>
          </a:prstGeom>
          <a:solidFill>
            <a:srgbClr val="11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81912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Profil 3 — À risque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2834639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Faible étude, échecs, habitudes défavorables. Objectif : intervention rapide.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730"/>
                </a:solidFill>
              </a:defRPr>
            </a:pPr>
            <a:r>
              <a:t>La segmentation aide à proposer des actions différentes selon le profil réel de l’étudiant.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B53"/>
                </a:solidFill>
              </a:defRPr>
            </a:pPr>
            <a:r>
              <a:t>Recommandations pédagogiques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8"/>
                </a:solidFill>
              </a:defRPr>
            </a:pPr>
            <a:r>
              <a:t>Transformer les résultats en actions concrètes pour l’université.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730"/>
                </a:solidFill>
              </a:defRPr>
            </a:pPr>
            <a:r>
              <a:t>Mettre en place un système d’alerte pour les étudiants à risque.</a:t>
            </a:r>
          </a:p>
          <a:p>
            <a:pPr>
              <a:spcAft>
                <a:spcPts val="1000"/>
              </a:spcAft>
              <a:defRPr sz="1800">
                <a:solidFill>
                  <a:srgbClr val="1F2730"/>
                </a:solidFill>
              </a:defRPr>
            </a:pPr>
            <a:r>
              <a:t>Proposer un tutorat aux étudiants ayant des échecs précédents.</a:t>
            </a:r>
          </a:p>
          <a:p>
            <a:pPr>
              <a:spcAft>
                <a:spcPts val="1000"/>
              </a:spcAft>
              <a:defRPr sz="1800">
                <a:solidFill>
                  <a:srgbClr val="1F2730"/>
                </a:solidFill>
              </a:defRPr>
            </a:pPr>
            <a:r>
              <a:t>Suivre les absences et contacter rapidement les étudiants concernés.</a:t>
            </a:r>
          </a:p>
          <a:p>
            <a:pPr>
              <a:spcAft>
                <a:spcPts val="1000"/>
              </a:spcAft>
              <a:defRPr sz="1800">
                <a:solidFill>
                  <a:srgbClr val="1F2730"/>
                </a:solidFill>
              </a:defRPr>
            </a:pPr>
            <a:r>
              <a:t>Renforcer l’accompagnement méthodologique pour les faibles temps d’étude.</a:t>
            </a:r>
          </a:p>
          <a:p>
            <a:pPr>
              <a:spcAft>
                <a:spcPts val="1000"/>
              </a:spcAft>
              <a:defRPr sz="1800">
                <a:solidFill>
                  <a:srgbClr val="1F2730"/>
                </a:solidFill>
              </a:defRPr>
            </a:pPr>
            <a:r>
              <a:t>Sensibiliser sur les habitudes qui peuvent influencer la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828800"/>
            <a:ext cx="4480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1828800"/>
            <a:ext cx="73152" cy="2194560"/>
          </a:xfrm>
          <a:prstGeom prst="rect">
            <a:avLst/>
          </a:prstGeom>
          <a:solidFill>
            <a:srgbClr val="18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993392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B53"/>
                </a:solidFill>
              </a:defRPr>
            </a:pPr>
            <a:r>
              <a:t>Message clé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0690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78"/>
                </a:solidFill>
              </a:defRPr>
            </a:pPr>
            <a:r>
              <a:t>L’analyse de données ne sert pas seulement à prédire : elle aide surtout à mieux orienter les décisions pédagogiques.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solidFill>
            <a:srgbClr val="D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806440"/>
            <a:ext cx="1737360" cy="1737360"/>
          </a:xfrm>
          <a:prstGeom prst="ellipse">
            <a:avLst/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B53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8"/>
                </a:solidFill>
              </a:defRPr>
            </a:pPr>
            <a:r>
              <a:t>Une démarche analytique utile pour améliorer la réussite académique.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F2730"/>
                </a:solidFill>
              </a:defRPr>
            </a:pPr>
            <a:r>
              <a:t>Les données permettent de mieux comprendre les profils étudiants.</a:t>
            </a:r>
          </a:p>
          <a:p>
            <a:pPr>
              <a:spcAft>
                <a:spcPts val="1000"/>
              </a:spcAft>
              <a:defRPr sz="2100">
                <a:solidFill>
                  <a:srgbClr val="1F2730"/>
                </a:solidFill>
              </a:defRPr>
            </a:pPr>
            <a:r>
              <a:t>La classification aide à détecter les étudiants à risque.</a:t>
            </a:r>
          </a:p>
          <a:p>
            <a:pPr>
              <a:spcAft>
                <a:spcPts val="1000"/>
              </a:spcAft>
              <a:defRPr sz="2100">
                <a:solidFill>
                  <a:srgbClr val="1F2730"/>
                </a:solidFill>
              </a:defRPr>
            </a:pPr>
            <a:r>
              <a:t>La segmentation facilite la personnalisation des actions.</a:t>
            </a:r>
          </a:p>
          <a:p>
            <a:pPr>
              <a:spcAft>
                <a:spcPts val="1000"/>
              </a:spcAft>
              <a:defRPr sz="2100">
                <a:solidFill>
                  <a:srgbClr val="1F2730"/>
                </a:solidFill>
              </a:defRPr>
            </a:pPr>
            <a:r>
              <a:t>Les recommandations permettent d’améliorer l’accompagnement pédagogique.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13B53"/>
                </a:solidFill>
              </a:defRPr>
            </a:pPr>
            <a:r>
              <a:t>Objectif final : passer d’une analyse descriptive à une décision pédagogique exploitable.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8"/>
                </a:solidFill>
              </a:defRPr>
            </a:pPr>
            <a:r>
              <a:t>Sujet 3 — Amélioration de la réussite des étudiants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697</Words>
  <Application>Microsoft Office PowerPoint</Application>
  <PresentationFormat>Grand écran</PresentationFormat>
  <Paragraphs>85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Aymen Benbouhia</cp:lastModifiedBy>
  <cp:revision>2</cp:revision>
  <dcterms:created xsi:type="dcterms:W3CDTF">2013-01-27T09:14:16Z</dcterms:created>
  <dcterms:modified xsi:type="dcterms:W3CDTF">2026-05-15T22:19:53Z</dcterms:modified>
  <cp:category/>
</cp:coreProperties>
</file>